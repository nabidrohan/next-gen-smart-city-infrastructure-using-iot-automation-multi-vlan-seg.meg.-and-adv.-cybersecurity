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8" r:id="rId1"/>
  </p:sldMasterIdLst>
  <p:notesMasterIdLst>
    <p:notesMasterId r:id="rId36"/>
  </p:notesMasterIdLst>
  <p:sldIdLst>
    <p:sldId id="256" r:id="rId2"/>
    <p:sldId id="257" r:id="rId3"/>
    <p:sldId id="259" r:id="rId4"/>
    <p:sldId id="258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90" r:id="rId23"/>
    <p:sldId id="291" r:id="rId24"/>
    <p:sldId id="280" r:id="rId25"/>
    <p:sldId id="279" r:id="rId26"/>
    <p:sldId id="282" r:id="rId27"/>
    <p:sldId id="281" r:id="rId28"/>
    <p:sldId id="283" r:id="rId29"/>
    <p:sldId id="289" r:id="rId30"/>
    <p:sldId id="284" r:id="rId31"/>
    <p:sldId id="286" r:id="rId32"/>
    <p:sldId id="285" r:id="rId33"/>
    <p:sldId id="288" r:id="rId34"/>
    <p:sldId id="287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E7465-4A3D-4205-824C-CFD89B78B21C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89916-6B2A-4538-936E-99632FC4A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28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89916-6B2A-4538-936E-99632FC4A3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53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89916-6B2A-4538-936E-99632FC4A3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1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51024-02E4-2D82-4C4F-7328D6894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90493-F34E-BDB4-D7F0-2B23DA630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E1CE3-88E5-0EB8-2A9E-A674E4CFA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C16C1-C1CE-AE2F-B5BB-C6B9A6266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89916-6B2A-4538-936E-99632FC4A3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3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20955-BEC9-222B-6A5F-8D0906C1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80DA7F-D86F-CADA-6639-C0794548E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8BED45-BE85-F3C5-D458-0FA4F890F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267C5-5AE2-AFFD-C589-BD914F03F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89916-6B2A-4538-936E-99632FC4A3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90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89916-6B2A-4538-936E-99632FC4A3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76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F2BD8-F6E7-47CC-8FD5-5480C4FA9F19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43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D188-D4DD-4825-9E3A-56D1FDCD8846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2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5ADE2-6424-4039-B3C1-FE4BA7698F33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90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6FB68-1A17-4F0F-8237-946D9DF0F267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9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73C63-926A-4888-A08F-F42F85E346E6}" type="datetime1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B6EB7-BB02-4654-84EA-6724C226CCF2}" type="datetime1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7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07F9A-6386-4E46-887E-C5A826EE90B3}" type="datetime1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647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DA55-05DD-4F32-AF7F-AB4C86A72D3B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5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7F8FF-7DA0-4BB2-8668-82161A1B9273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02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F5782-B717-41FF-8CB8-3C8D5B0D8F5C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5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624B-9581-4C15-B3D5-6F7E25A7FC09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12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84BF-BA24-43D0-AA48-A7E9B4B918E5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1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ADE7D-70BB-43DA-A6E0-D1A15A74DA58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606AB-5A23-44CC-B609-310B8546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55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jadoobroadband.com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puternetworkingnotes.com/" TargetMode="External"/><Relationship Id="rId7" Type="http://schemas.openxmlformats.org/officeDocument/2006/relationships/hyperlink" Target="https://www.techtarget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piceworks.com/" TargetMode="External"/><Relationship Id="rId5" Type="http://schemas.openxmlformats.org/officeDocument/2006/relationships/hyperlink" Target="https://networklessons.com/" TargetMode="External"/><Relationship Id="rId4" Type="http://schemas.openxmlformats.org/officeDocument/2006/relationships/hyperlink" Target="https://www.geeksforgeeks.org/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C2DC-51D6-70CA-1463-104BF3B86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391" y="1300785"/>
            <a:ext cx="10323444" cy="2727876"/>
          </a:xfrm>
        </p:spPr>
        <p:txBody>
          <a:bodyPr>
            <a:normAutofit fontScale="90000"/>
          </a:bodyPr>
          <a:lstStyle/>
          <a:p>
            <a:br>
              <a:rPr lang="en-US" sz="3200" b="1" dirty="0"/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Next-Generation Smart Integrated City Infrastructure With IoT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Automation,Multi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-VLAN Segmentation and Advanced Cybersecurity Enforcement.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for: </a:t>
            </a:r>
            <a:br>
              <a:rPr lang="en-US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Practicum</a:t>
            </a:r>
            <a:r>
              <a:rPr lang="en-US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Defense Committee, </a:t>
            </a:r>
            <a:br>
              <a:rPr lang="en-US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US" sz="31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48586-8C2A-276C-A2CC-DEED4D165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391" y="4134678"/>
            <a:ext cx="10452641" cy="2252869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                                                                                                    Prepared By:                                                            </a:t>
            </a:r>
          </a:p>
          <a:p>
            <a:pPr algn="l"/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Mahedi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Hasan                                                                                              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Nabidur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Rahaman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                                                                                                                ID: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22103011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cience and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ngineering, IUBAT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Date:Sunday</a:t>
            </a: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25 January,2026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478D64-BC18-6596-85FE-BB01F4D7F9B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565" y="332212"/>
            <a:ext cx="681601" cy="596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3B1A21-318D-7CD6-131D-14DAA9364D30}"/>
              </a:ext>
            </a:extLst>
          </p:cNvPr>
          <p:cNvSpPr txBox="1"/>
          <p:nvPr/>
        </p:nvSpPr>
        <p:spPr>
          <a:xfrm>
            <a:off x="1145427" y="366074"/>
            <a:ext cx="98008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IUBAT-International University of Business Agriculture and Technology 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89317-524D-C47C-2607-3E50777074D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779113" y="332212"/>
            <a:ext cx="534919" cy="52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40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A6F1D-A4AF-6965-3EFE-839557B0A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17052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B58D-5DD5-3772-6AFB-C9421A8058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934818"/>
            <a:ext cx="10363826" cy="385638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Overview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Network of Digi Jadoo Broadband Limited(Mohammadi Group)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Network for Digi Jadoo Broadband Limited(Mohammadi Group)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Demonstration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FA6A1-86DC-2115-269F-C66CD51B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04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1F19-1305-78CB-FC9A-C0D3EAAEE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Overview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2EFA2-0368-1D23-1BD2-5E952F1A7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04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3A611-9951-0852-D90A-5532893B4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1263"/>
            <a:ext cx="10515600" cy="12094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 and Vision of Digi Jadoo Broadband Limited(Mohammadi Group)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D7DAC-BB24-7A68-865C-2C35899167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101516"/>
            <a:ext cx="10315700" cy="3866147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Deliver Reliable &amp; Affordable Broadband Connectivity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Enable Digital Transformation for Business &amp; Household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Maintain Network Excellence &amp; Customer Satisfaction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Become Bangladesh’s Leading Broadband Service Provider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Bridge the Digital Divide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Foster Innovation in IoT , Smart Cities &amp; Connected Infrastructure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4.Contribute to National Digital Economy Growth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BC7AA-8010-CE19-9E11-89D840742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93361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0492-76E9-B3D9-15C6-9A1DDCA10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056"/>
          </a:xfrm>
        </p:spPr>
        <p:txBody>
          <a:bodyPr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Information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48309-EC06-80C5-EACF-A939E4727A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of the Organization: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Digi Jadoo Broadband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Linited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(Mohammadi Group)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Head-Office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Lotus Kamal Tower-One,Level-9,10,11,14,57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Sahara C/A,Nikunja-2,Khilkhet,Dhaka-1229,Bangladesh.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+880 9613016503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jadoobroadband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.com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noc@digijadoo.com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FE7E3-F27B-AC59-8200-2318BFB5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4122A-E5E7-3DF2-C609-959EB11FE417}"/>
              </a:ext>
            </a:extLst>
          </p:cNvPr>
          <p:cNvSpPr txBox="1"/>
          <p:nvPr/>
        </p:nvSpPr>
        <p:spPr>
          <a:xfrm>
            <a:off x="6801071" y="5874791"/>
            <a:ext cx="3422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1: </a:t>
            </a:r>
            <a:r>
              <a:rPr lang="en-US" dirty="0"/>
              <a:t>Organization picture</a:t>
            </a:r>
            <a:endParaRPr lang="en-US" b="1" dirty="0"/>
          </a:p>
        </p:txBody>
      </p:sp>
      <p:pic>
        <p:nvPicPr>
          <p:cNvPr id="1028" name="Picture 4" descr="Lotus Kamal Tower | office building">
            <a:extLst>
              <a:ext uri="{FF2B5EF4-FFF2-40B4-BE49-F238E27FC236}">
                <a16:creationId xmlns:a16="http://schemas.microsoft.com/office/drawing/2014/main" id="{DBDC4638-F7DF-72E5-A724-BB3FA80A8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9884" y="1163765"/>
            <a:ext cx="3110635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ohammadi Group - Jagojobs">
            <a:extLst>
              <a:ext uri="{FF2B5EF4-FFF2-40B4-BE49-F238E27FC236}">
                <a16:creationId xmlns:a16="http://schemas.microsoft.com/office/drawing/2014/main" id="{021A0D62-5785-6404-8234-6FD69713E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169" y="3429000"/>
            <a:ext cx="2194751" cy="202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Jadoo Broadband | Dhaka">
            <a:extLst>
              <a:ext uri="{FF2B5EF4-FFF2-40B4-BE49-F238E27FC236}">
                <a16:creationId xmlns:a16="http://schemas.microsoft.com/office/drawing/2014/main" id="{60C6D75F-8070-2115-D5DB-B4B25E9E4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169" y="1163765"/>
            <a:ext cx="2194751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3311666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99A7E-A5C8-8681-D2C6-296022130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1263"/>
            <a:ext cx="10515600" cy="6079958"/>
          </a:xfrm>
        </p:spPr>
        <p:txBody>
          <a:bodyPr/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A40856-3B3C-B5DF-D9AF-55D821577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79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48035-3A58-87BF-C05D-C55A9642A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6E3CD6-FB41-337B-E0C6-F30722D24A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540010"/>
            <a:ext cx="6637256" cy="4666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None/>
            </a:pPr>
            <a:endParaRPr lang="en-US" sz="24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communication and resource sharing between devices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hardware (routers, switches, cables) and software (protocols, services)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protocols like TCP/IP to ensure reliable communication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security through firewalls, encryption, and access control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regular monitoring, maintenance, and troubleshooting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513854-B305-771C-33D3-167E268A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75457" y="6158503"/>
            <a:ext cx="4739546" cy="285946"/>
          </a:xfrm>
        </p:spPr>
        <p:txBody>
          <a:bodyPr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2: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example scenario of Computer Network</a:t>
            </a:r>
          </a:p>
        </p:txBody>
      </p:sp>
      <p:pic>
        <p:nvPicPr>
          <p:cNvPr id="1026" name="Picture 2" descr="Networking Basics: The Key Concepts ...">
            <a:extLst>
              <a:ext uri="{FF2B5EF4-FFF2-40B4-BE49-F238E27FC236}">
                <a16:creationId xmlns:a16="http://schemas.microsoft.com/office/drawing/2014/main" id="{E4FCDFEA-CBBC-D865-6F16-B1E6473BA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02" y="2090166"/>
            <a:ext cx="3756161" cy="354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266766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517D7-8433-5235-6DF0-F59F089A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711" y="420060"/>
            <a:ext cx="10888578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Types</a:t>
            </a:r>
          </a:p>
        </p:txBody>
      </p:sp>
      <p:pic>
        <p:nvPicPr>
          <p:cNvPr id="4098" name="Picture 2" descr="Local Area Network Vector Art, Icons, and Graphics for Free ...">
            <a:extLst>
              <a:ext uri="{FF2B5EF4-FFF2-40B4-BE49-F238E27FC236}">
                <a16:creationId xmlns:a16="http://schemas.microsoft.com/office/drawing/2014/main" id="{A13E4EBA-F783-64BF-B6AC-0B83ECBBFA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88" y="1745623"/>
            <a:ext cx="4860758" cy="355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MAN Diagram Complete Guide | EdrawMax">
            <a:extLst>
              <a:ext uri="{FF2B5EF4-FFF2-40B4-BE49-F238E27FC236}">
                <a16:creationId xmlns:a16="http://schemas.microsoft.com/office/drawing/2014/main" id="{4FB7F796-39C4-DF73-E50D-DA8EF69E9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9511" y="1745622"/>
            <a:ext cx="4860759" cy="355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201878-D73A-DC70-8A60-4040E3AF9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E2CF17-B49E-1B5E-847F-2B7D0AA4D8F2}"/>
              </a:ext>
            </a:extLst>
          </p:cNvPr>
          <p:cNvSpPr txBox="1"/>
          <p:nvPr/>
        </p:nvSpPr>
        <p:spPr>
          <a:xfrm>
            <a:off x="1339713" y="5486399"/>
            <a:ext cx="3695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Area Network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854B8-CBC3-8F66-51FB-DB9C4F951B37}"/>
              </a:ext>
            </a:extLst>
          </p:cNvPr>
          <p:cNvSpPr txBox="1"/>
          <p:nvPr/>
        </p:nvSpPr>
        <p:spPr>
          <a:xfrm>
            <a:off x="6278252" y="5486399"/>
            <a:ext cx="385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Metroplitan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 Network</a:t>
            </a:r>
          </a:p>
        </p:txBody>
      </p:sp>
    </p:spTree>
    <p:extLst>
      <p:ext uri="{BB962C8B-B14F-4D97-AF65-F5344CB8AC3E}">
        <p14:creationId xmlns:p14="http://schemas.microsoft.com/office/powerpoint/2010/main" val="137724430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4220-F82D-0AE0-553F-35B6B730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Types(Contd.)</a:t>
            </a:r>
          </a:p>
        </p:txBody>
      </p:sp>
      <p:pic>
        <p:nvPicPr>
          <p:cNvPr id="5122" name="Picture 2" descr="WAN Product Types Explained">
            <a:extLst>
              <a:ext uri="{FF2B5EF4-FFF2-40B4-BE49-F238E27FC236}">
                <a16:creationId xmlns:a16="http://schemas.microsoft.com/office/drawing/2014/main" id="{5258E330-BBA1-4EB8-643C-84562EA864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683" y="2021397"/>
            <a:ext cx="7748337" cy="375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69CAF2-A925-2D93-68CB-09947A65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8A0F1-3B9D-220A-4A2B-5D33CFC65FC7}"/>
              </a:ext>
            </a:extLst>
          </p:cNvPr>
          <p:cNvSpPr txBox="1"/>
          <p:nvPr/>
        </p:nvSpPr>
        <p:spPr>
          <a:xfrm>
            <a:off x="4307265" y="5987018"/>
            <a:ext cx="471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 Area Network</a:t>
            </a:r>
          </a:p>
        </p:txBody>
      </p:sp>
    </p:spTree>
    <p:extLst>
      <p:ext uri="{BB962C8B-B14F-4D97-AF65-F5344CB8AC3E}">
        <p14:creationId xmlns:p14="http://schemas.microsoft.com/office/powerpoint/2010/main" val="129477253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27EF-9D65-3C55-FC26-BBA4D9716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7D0A3-937D-68D2-4249-E6B7A21DB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Network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 Network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Ring Network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Network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Network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57D0A3-937D-68D2-4249-E6B7A21DB0F9}"/>
              </a:ext>
            </a:extLst>
          </p:cNvPr>
          <p:cNvSpPr txBox="1">
            <a:spLocks/>
          </p:cNvSpPr>
          <p:nvPr/>
        </p:nvSpPr>
        <p:spPr>
          <a:xfrm>
            <a:off x="5119101" y="2616416"/>
            <a:ext cx="5659366" cy="1939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2" descr="Types of network topology in computer system">
            <a:extLst>
              <a:ext uri="{FF2B5EF4-FFF2-40B4-BE49-F238E27FC236}">
                <a16:creationId xmlns:a16="http://schemas.microsoft.com/office/drawing/2014/main" id="{E6C6DD2D-20E1-F2D3-3DBB-B8E54FC44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624" y="1870075"/>
            <a:ext cx="6090320" cy="3648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CBCAF-C8AD-4E52-9C02-20FE84F1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182382-3B89-4452-7DE4-5F9D0734A8B6}"/>
              </a:ext>
            </a:extLst>
          </p:cNvPr>
          <p:cNvSpPr txBox="1"/>
          <p:nvPr/>
        </p:nvSpPr>
        <p:spPr>
          <a:xfrm>
            <a:off x="6319886" y="5663210"/>
            <a:ext cx="4581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Topology</a:t>
            </a:r>
          </a:p>
        </p:txBody>
      </p:sp>
    </p:spTree>
    <p:extLst>
      <p:ext uri="{BB962C8B-B14F-4D97-AF65-F5344CB8AC3E}">
        <p14:creationId xmlns:p14="http://schemas.microsoft.com/office/powerpoint/2010/main" val="1400789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FBF9-1DCE-55CA-53CC-80B4012D3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B32E5-0531-C6B4-672D-BA93CBF69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780" y="1738221"/>
            <a:ext cx="4360584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 standardizes how network system communicates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 into 7 layers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flows from top (Layer 7) to bottom (Layer 1) for sending data and bottom to top for receiving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D2B32E5-0531-C6B4-672D-BA93CBF69905}"/>
              </a:ext>
            </a:extLst>
          </p:cNvPr>
          <p:cNvSpPr txBox="1">
            <a:spLocks/>
          </p:cNvSpPr>
          <p:nvPr/>
        </p:nvSpPr>
        <p:spPr>
          <a:xfrm>
            <a:off x="3545306" y="1738221"/>
            <a:ext cx="9305792" cy="54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2A996-2529-ECD3-105E-7C4F44BE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8EB868-70DE-2438-BF48-F644D4AA08AA}"/>
              </a:ext>
            </a:extLst>
          </p:cNvPr>
          <p:cNvSpPr txBox="1"/>
          <p:nvPr/>
        </p:nvSpPr>
        <p:spPr>
          <a:xfrm>
            <a:off x="6015896" y="6089559"/>
            <a:ext cx="4364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System Interconnection</a:t>
            </a:r>
          </a:p>
        </p:txBody>
      </p:sp>
      <p:pic>
        <p:nvPicPr>
          <p:cNvPr id="2050" name="Picture 2" descr="OSI Model for beginners - Hackercool Magazine">
            <a:extLst>
              <a:ext uri="{FF2B5EF4-FFF2-40B4-BE49-F238E27FC236}">
                <a16:creationId xmlns:a16="http://schemas.microsoft.com/office/drawing/2014/main" id="{E88B13C5-2A2E-099A-1585-720C9917D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352" y="1738220"/>
            <a:ext cx="5637086" cy="408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18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FD38-0C73-2B60-94FE-2FF991C4A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F336A3-712E-DAE2-7C6C-F1F1CD3B7B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1961" y="1827876"/>
            <a:ext cx="635559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IP address uniquely identifies a device on a network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 addresses are essential for routing and communication between devices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versions exist: IPv4 (e.g., 192.168.1.1) and IPv6 (e.g., 2001:0db8::1)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 addresses are divided into network and host portions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static (manually assigned) or dynamic (assigned via DHCP)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23ACC9-23A7-62F4-6B02-A25A30CD7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069210" cy="365125"/>
          </a:xfrm>
        </p:spPr>
        <p:txBody>
          <a:bodyPr/>
          <a:lstStyle/>
          <a:p>
            <a:fld id="{74E606AB-5A23-44CC-B609-310B8546920E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AutoShape 2" descr="What is an IP Address? | GeeksforGeeks">
            <a:extLst>
              <a:ext uri="{FF2B5EF4-FFF2-40B4-BE49-F238E27FC236}">
                <a16:creationId xmlns:a16="http://schemas.microsoft.com/office/drawing/2014/main" id="{2364AFBE-8B67-8EBE-F974-3B2B3824F3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What is an IP Address? | GeeksforGeeks">
            <a:extLst>
              <a:ext uri="{FF2B5EF4-FFF2-40B4-BE49-F238E27FC236}">
                <a16:creationId xmlns:a16="http://schemas.microsoft.com/office/drawing/2014/main" id="{68B700E3-7C4C-BD63-4D38-3A8E68C666B3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7334055" y="5835189"/>
            <a:ext cx="455314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AutoShape 6" descr="What is an IP Address? | GeeksforGeeks">
            <a:extLst>
              <a:ext uri="{FF2B5EF4-FFF2-40B4-BE49-F238E27FC236}">
                <a16:creationId xmlns:a16="http://schemas.microsoft.com/office/drawing/2014/main" id="{A7175D2D-8902-6E13-F012-303E3CF7C2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IPv4-address-format">
            <a:extLst>
              <a:ext uri="{FF2B5EF4-FFF2-40B4-BE49-F238E27FC236}">
                <a16:creationId xmlns:a16="http://schemas.microsoft.com/office/drawing/2014/main" id="{00E60A02-A0BA-084C-60A4-873845F191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60" name="Picture 12" descr="What are the classes of IPV4? How to identify IP class from a given IP  address?">
            <a:extLst>
              <a:ext uri="{FF2B5EF4-FFF2-40B4-BE49-F238E27FC236}">
                <a16:creationId xmlns:a16="http://schemas.microsoft.com/office/drawing/2014/main" id="{1CC24FBB-E2DC-C84F-9A16-8482A6A84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799" y="2013408"/>
            <a:ext cx="3725157" cy="3440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294437-EBB0-9A67-AAAC-7F2784FAB4C5}"/>
              </a:ext>
            </a:extLst>
          </p:cNvPr>
          <p:cNvSpPr txBox="1"/>
          <p:nvPr/>
        </p:nvSpPr>
        <p:spPr>
          <a:xfrm>
            <a:off x="7660063" y="5610229"/>
            <a:ext cx="3619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8: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IP Address </a:t>
            </a:r>
          </a:p>
        </p:txBody>
      </p:sp>
    </p:spTree>
    <p:extLst>
      <p:ext uri="{BB962C8B-B14F-4D97-AF65-F5344CB8AC3E}">
        <p14:creationId xmlns:p14="http://schemas.microsoft.com/office/powerpoint/2010/main" val="3896684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54E3-07B9-5133-958C-81A83F839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2875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Network of Digi jadoo Broadband Limited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0FE252-260A-F01B-8BE6-26D8004A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5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A9910-116A-33CC-6C14-4DD7701B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16" y="-3592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Network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79B742-CD00-7F95-0FE7-3FB9C7F0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3A564-6F8B-5038-5BB5-1D5BC1D582F7}"/>
              </a:ext>
            </a:extLst>
          </p:cNvPr>
          <p:cNvSpPr txBox="1"/>
          <p:nvPr/>
        </p:nvSpPr>
        <p:spPr>
          <a:xfrm>
            <a:off x="4194929" y="6356350"/>
            <a:ext cx="47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9: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of Existing Network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E9AEA87-3572-9F74-DC18-C77DD8F78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232" y="1216153"/>
            <a:ext cx="10826496" cy="4864608"/>
          </a:xfrm>
        </p:spPr>
      </p:pic>
    </p:spTree>
    <p:extLst>
      <p:ext uri="{BB962C8B-B14F-4D97-AF65-F5344CB8AC3E}">
        <p14:creationId xmlns:p14="http://schemas.microsoft.com/office/powerpoint/2010/main" val="117994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D280-3BCD-8C1A-C010-409A351FB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Devices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13127D-F41A-0726-8B46-68C1B9A5D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Router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Multilayer Switch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Switches(6)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PC’s(15)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Home-Router(2)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Servers(3)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DC7ABB-5B69-746E-28AB-98410591D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0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0673-1071-4C05-9B68-F7E22EB4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90050-416E-50C9-C779-2516D5CAC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848" y="1847850"/>
            <a:ext cx="5138393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Static Routing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Routing(OSPF, RIP)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A5725-F4D7-C85B-7A30-54F8E270F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0F401-822E-1DA0-2DE3-CE73763AE165}"/>
              </a:ext>
            </a:extLst>
          </p:cNvPr>
          <p:cNvSpPr txBox="1"/>
          <p:nvPr/>
        </p:nvSpPr>
        <p:spPr>
          <a:xfrm>
            <a:off x="1210951" y="6123544"/>
            <a:ext cx="3770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10: Open Shorted Path Found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0CE946-ADD7-6EF8-1F9B-5BE7EF76CEC2}"/>
              </a:ext>
            </a:extLst>
          </p:cNvPr>
          <p:cNvSpPr txBox="1"/>
          <p:nvPr/>
        </p:nvSpPr>
        <p:spPr>
          <a:xfrm>
            <a:off x="5903441" y="6075144"/>
            <a:ext cx="5002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11: Dynamic Host Configuration Protocol</a:t>
            </a:r>
          </a:p>
          <a:p>
            <a:endParaRPr lang="en-US" dirty="0"/>
          </a:p>
        </p:txBody>
      </p:sp>
      <p:pic>
        <p:nvPicPr>
          <p:cNvPr id="1026" name="Picture 2" descr="Understanding DHCP Port: An Essential Component of Network Configuration">
            <a:extLst>
              <a:ext uri="{FF2B5EF4-FFF2-40B4-BE49-F238E27FC236}">
                <a16:creationId xmlns:a16="http://schemas.microsoft.com/office/drawing/2014/main" id="{13D2E897-AAC1-E580-9D02-67DADB054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152" y="3252248"/>
            <a:ext cx="50292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4" descr="What is OSPF? | NetworkAcademy.IO">
            <a:extLst>
              <a:ext uri="{FF2B5EF4-FFF2-40B4-BE49-F238E27FC236}">
                <a16:creationId xmlns:a16="http://schemas.microsoft.com/office/drawing/2014/main" id="{CA289C57-0F6D-B063-DE4E-3325CBAC31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73936" y="3276600"/>
            <a:ext cx="4474464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8" name="Picture 6" descr="Understanding OSPF External Route Path Sele… | INE Internetwork Expert">
            <a:extLst>
              <a:ext uri="{FF2B5EF4-FFF2-40B4-BE49-F238E27FC236}">
                <a16:creationId xmlns:a16="http://schemas.microsoft.com/office/drawing/2014/main" id="{5E2A4118-3781-1A11-9167-47EBCC228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48" y="3276600"/>
            <a:ext cx="5153756" cy="274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45DF-5A56-7565-A61C-401C40AC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491B1-91FA-0935-6222-D13BDC991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MAIL Server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NTP Server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DHCP-DNS server</a:t>
            </a:r>
          </a:p>
          <a:p>
            <a:pPr marL="0" indent="0" algn="just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EADB9-E0DB-B357-EC47-11411603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0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64A6D-0844-7A77-331F-5C2500B6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Network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3B972-02D1-CD44-F4A9-32D8BF231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Network Congestion &amp; Security risks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Limited IoT scalability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Vulnerable to Unauthorized access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Manual Management Only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BBCAA-8581-8899-655E-7E26C8B25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A2DF0-B8AC-1571-D2F7-6D34C5632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0475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Network for Digi jadoo Broadband Limited(Mohammadi Group)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DD6779-1C12-C9DF-FDF3-562F5449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0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0C649-4C43-01A7-3355-C5F1769A7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Proposed Network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B6433C-873E-4761-1D6E-2DAA1ED295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6695" y="1906131"/>
            <a:ext cx="1032710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design with core, distribution, and access layers for better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integration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automation Control Via Home-Gateway and IoT Server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manageability through layered design and logical VLAN segmentation(6 Zones)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Giga Ethernet Cable for better data communication between Device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server (DHCP-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DNS,Web,NTP,IoT,Syslog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automated network Services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A5036F-15F4-1F25-5492-866896CF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F4328-EC92-7128-463D-50336655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63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Network Model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EC103-7BCF-7C4C-60CF-7E7EF9A5E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1BFFF-830F-F582-A1CE-D085741B4668}"/>
              </a:ext>
            </a:extLst>
          </p:cNvPr>
          <p:cNvSpPr txBox="1"/>
          <p:nvPr/>
        </p:nvSpPr>
        <p:spPr>
          <a:xfrm>
            <a:off x="3852812" y="6356350"/>
            <a:ext cx="4486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12: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of Proposed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6E863F-1FDD-1545-027B-A2E8CA28E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030" y="1106424"/>
            <a:ext cx="8712633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5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0A87A-A894-AAA7-8314-05CD5C91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D31D-B782-3504-C620-7534E97F1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63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Network Model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8367D-205D-49F9-B42E-AE28F000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E0644C-9197-5EFF-043A-4FCA203CA381}"/>
              </a:ext>
            </a:extLst>
          </p:cNvPr>
          <p:cNvSpPr txBox="1"/>
          <p:nvPr/>
        </p:nvSpPr>
        <p:spPr>
          <a:xfrm>
            <a:off x="3852812" y="6356350"/>
            <a:ext cx="4486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12: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of Proposed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B6C3E0-AC77-0787-1252-D68F7664B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724" y="1161288"/>
            <a:ext cx="4908868" cy="4782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DE7126-303E-21B3-12E2-F253CD95E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833" y="1161288"/>
            <a:ext cx="4305901" cy="478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478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25B61-7F96-2F7A-2AF0-E609A628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69AC-7999-4C0C-5312-02A950359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63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Network Model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FADCB-3789-A9F1-86C8-498475BF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38E82-992F-3BB7-A207-0B2BC1A39D61}"/>
              </a:ext>
            </a:extLst>
          </p:cNvPr>
          <p:cNvSpPr txBox="1"/>
          <p:nvPr/>
        </p:nvSpPr>
        <p:spPr>
          <a:xfrm>
            <a:off x="3852812" y="6356350"/>
            <a:ext cx="4486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12: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of Proposed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C0AF7-3993-D11C-1F67-28D9BD8CA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338" y="1051560"/>
            <a:ext cx="9792902" cy="525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797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6CF0-C4FD-BFF4-3DB3-CD965C0C6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Devices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E8D14-3112-8EA9-43E1-75F4E772D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825625"/>
            <a:ext cx="1080516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 Router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 up Router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 Multilayer Switch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 Switch(5)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Home-Router(2)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Device(12)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Home-Gateway(4)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Servers(5)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End Device(50)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4644D-B10B-CE3E-1B16-0AAF962E7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4417-A763-EC49-FC1E-47E5BF875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DE4C0-9EAD-6C6E-2375-DE5E92C0B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DHCP-DNS Server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Server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NTP server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IoT Server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Syslog Server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634B1-79D4-3C6F-4274-D611F21A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FFB1-EFEC-C5C4-F353-C49828D3A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24433"/>
          </a:xfrm>
        </p:spPr>
        <p:txBody>
          <a:bodyPr/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65F62A-6069-66AB-178B-5E0505A9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7316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0530-F6A9-0BC5-D449-CDA12B9C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84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Network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DCBB15-5648-A6B0-7300-B2331F85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8B0A0E-8A52-0C49-5302-0A3D76B2B91A}"/>
              </a:ext>
            </a:extLst>
          </p:cNvPr>
          <p:cNvSpPr txBox="1"/>
          <p:nvPr/>
        </p:nvSpPr>
        <p:spPr>
          <a:xfrm>
            <a:off x="4043315" y="6169580"/>
            <a:ext cx="4468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13: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Network Demonstrates </a:t>
            </a:r>
          </a:p>
        </p:txBody>
      </p:sp>
      <p:pic>
        <p:nvPicPr>
          <p:cNvPr id="11" name="Content Placeholder 8">
            <a:extLst>
              <a:ext uri="{FF2B5EF4-FFF2-40B4-BE49-F238E27FC236}">
                <a16:creationId xmlns:a16="http://schemas.microsoft.com/office/drawing/2014/main" id="{77D3227D-FC6A-6D47-EA3C-0A59221E8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7552" y="1627633"/>
            <a:ext cx="10030968" cy="4541948"/>
          </a:xfrm>
        </p:spPr>
      </p:pic>
    </p:spTree>
    <p:extLst>
      <p:ext uri="{BB962C8B-B14F-4D97-AF65-F5344CB8AC3E}">
        <p14:creationId xmlns:p14="http://schemas.microsoft.com/office/powerpoint/2010/main" val="962906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E8A9-B17C-7442-AB25-56F8A2E14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32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Network</a:t>
            </a:r>
            <a:endParaRPr lang="en-US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8FE776-AE82-0B12-6A96-30FB0FFB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28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A1386-9E31-D936-5D6F-8BA1FFDD7397}"/>
              </a:ext>
            </a:extLst>
          </p:cNvPr>
          <p:cNvSpPr txBox="1"/>
          <p:nvPr/>
        </p:nvSpPr>
        <p:spPr>
          <a:xfrm>
            <a:off x="3850064" y="6171684"/>
            <a:ext cx="4760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14: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Network Demonstrates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1CF57-A703-426B-5250-35656B3B5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097280"/>
            <a:ext cx="675741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4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1C18-092D-92D1-C8BB-BE5CE247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Estimation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79934BF-DA6C-7D7A-2D79-59906D5D72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575269"/>
              </p:ext>
            </p:extLst>
          </p:nvPr>
        </p:nvGraphicFramePr>
        <p:xfrm>
          <a:off x="397498" y="1630839"/>
          <a:ext cx="11397004" cy="467287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849251">
                  <a:extLst>
                    <a:ext uri="{9D8B030D-6E8A-4147-A177-3AD203B41FA5}">
                      <a16:colId xmlns:a16="http://schemas.microsoft.com/office/drawing/2014/main" val="175586465"/>
                    </a:ext>
                  </a:extLst>
                </a:gridCol>
                <a:gridCol w="2849251">
                  <a:extLst>
                    <a:ext uri="{9D8B030D-6E8A-4147-A177-3AD203B41FA5}">
                      <a16:colId xmlns:a16="http://schemas.microsoft.com/office/drawing/2014/main" val="810370007"/>
                    </a:ext>
                  </a:extLst>
                </a:gridCol>
                <a:gridCol w="2849251">
                  <a:extLst>
                    <a:ext uri="{9D8B030D-6E8A-4147-A177-3AD203B41FA5}">
                      <a16:colId xmlns:a16="http://schemas.microsoft.com/office/drawing/2014/main" val="1415598024"/>
                    </a:ext>
                  </a:extLst>
                </a:gridCol>
                <a:gridCol w="2849251">
                  <a:extLst>
                    <a:ext uri="{9D8B030D-6E8A-4147-A177-3AD203B41FA5}">
                      <a16:colId xmlns:a16="http://schemas.microsoft.com/office/drawing/2014/main" val="2451185745"/>
                    </a:ext>
                  </a:extLst>
                </a:gridCol>
              </a:tblGrid>
              <a:tr h="36445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Unit Price (USD)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Total (USD)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450364"/>
                  </a:ext>
                </a:extLst>
              </a:tr>
              <a:tr h="392952">
                <a:tc>
                  <a:txBody>
                    <a:bodyPr/>
                    <a:lstStyle/>
                    <a:p>
                      <a:r>
                        <a:rPr lang="en-US" sz="2000" dirty="0"/>
                        <a:t>Cisco Layer 3 Core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595346"/>
                  </a:ext>
                </a:extLst>
              </a:tr>
              <a:tr h="644795">
                <a:tc>
                  <a:txBody>
                    <a:bodyPr/>
                    <a:lstStyle/>
                    <a:p>
                      <a:r>
                        <a:rPr lang="en-US" sz="2000" dirty="0"/>
                        <a:t>Cisco Core Router and Backup 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12880"/>
                  </a:ext>
                </a:extLst>
              </a:tr>
              <a:tr h="644795">
                <a:tc>
                  <a:txBody>
                    <a:bodyPr/>
                    <a:lstStyle/>
                    <a:p>
                      <a:r>
                        <a:rPr lang="en-US" sz="2000" dirty="0"/>
                        <a:t>Distribution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495800"/>
                  </a:ext>
                </a:extLst>
              </a:tr>
              <a:tr h="392952">
                <a:tc>
                  <a:txBody>
                    <a:bodyPr/>
                    <a:lstStyle/>
                    <a:p>
                      <a:r>
                        <a:rPr lang="en-US" sz="2000" dirty="0"/>
                        <a:t>Home-Gateway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297509"/>
                  </a:ext>
                </a:extLst>
              </a:tr>
              <a:tr h="644795">
                <a:tc>
                  <a:txBody>
                    <a:bodyPr/>
                    <a:lstStyle/>
                    <a:p>
                      <a:r>
                        <a:rPr lang="en-US" sz="2000" dirty="0"/>
                        <a:t>Servers (DHCP-DNS, NTP, </a:t>
                      </a:r>
                      <a:r>
                        <a:rPr lang="en-US" sz="2000" dirty="0" err="1"/>
                        <a:t>web,IoT,Syslog</a:t>
                      </a:r>
                      <a:r>
                        <a:rPr lang="en-US" sz="2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001140"/>
                  </a:ext>
                </a:extLst>
              </a:tr>
              <a:tr h="644795">
                <a:tc>
                  <a:txBody>
                    <a:bodyPr/>
                    <a:lstStyle/>
                    <a:p>
                      <a:r>
                        <a:rPr lang="en-US" sz="2000" dirty="0"/>
                        <a:t>Home 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209923"/>
                  </a:ext>
                </a:extLst>
              </a:tr>
              <a:tr h="392952">
                <a:tc>
                  <a:txBody>
                    <a:bodyPr/>
                    <a:lstStyle/>
                    <a:p>
                      <a:r>
                        <a:rPr lang="en-US" sz="2000" dirty="0"/>
                        <a:t>IoT End 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5212"/>
                  </a:ext>
                </a:extLst>
              </a:tr>
              <a:tr h="392952">
                <a:tc>
                  <a:txBody>
                    <a:bodyPr/>
                    <a:lstStyle/>
                    <a:p>
                      <a:r>
                        <a:rPr lang="en-US" sz="20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284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A3ECE-07AE-8495-5906-32F070316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4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48994-901A-40A4-56A8-390FA7931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37" y="255463"/>
            <a:ext cx="11225463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Existing and Proposed Network</a:t>
            </a:r>
            <a:endParaRPr lang="en-US" b="1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3989206-C033-80CD-02C8-FD8001B3B0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411370"/>
              </p:ext>
            </p:extLst>
          </p:nvPr>
        </p:nvGraphicFramePr>
        <p:xfrm>
          <a:off x="300789" y="1836489"/>
          <a:ext cx="11590422" cy="400893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737058">
                  <a:extLst>
                    <a:ext uri="{9D8B030D-6E8A-4147-A177-3AD203B41FA5}">
                      <a16:colId xmlns:a16="http://schemas.microsoft.com/office/drawing/2014/main" val="1381485991"/>
                    </a:ext>
                  </a:extLst>
                </a:gridCol>
                <a:gridCol w="5853364">
                  <a:extLst>
                    <a:ext uri="{9D8B030D-6E8A-4147-A177-3AD203B41FA5}">
                      <a16:colId xmlns:a16="http://schemas.microsoft.com/office/drawing/2014/main" val="172332324"/>
                    </a:ext>
                  </a:extLst>
                </a:gridCol>
              </a:tblGrid>
              <a:tr h="54543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Network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Network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147445640"/>
                  </a:ext>
                </a:extLst>
              </a:tr>
              <a:tr h="6927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Weak/No Security Mechanism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Hierarchical topology (core, distribution, access layers)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480779234"/>
                  </a:ext>
                </a:extLst>
              </a:tr>
              <a:tr h="6927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or absent security mechanisms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security using Access Control Lists (ACLs)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4071399138"/>
                  </a:ext>
                </a:extLst>
              </a:tr>
              <a:tr h="6927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redundancy – prone to single points of failure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Redundant links and backup router ensure high availability.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187062919"/>
                  </a:ext>
                </a:extLst>
              </a:tr>
              <a:tr h="6927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scalability and adaptability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Scalable VLAN and modular design supports future expansion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960963903"/>
                  </a:ext>
                </a:extLst>
              </a:tr>
              <a:tr h="6927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IoT Control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Automation and Public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Service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78569176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D9508-962A-4D4C-4C07-F0847F3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1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F9453-7249-9101-6340-57AD30372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797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5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95BA3E-4086-963F-2E52-2C82E13E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5785"/>
      </p:ext>
    </p:extLst>
  </p:cSld>
  <p:clrMapOvr>
    <a:masterClrMapping/>
  </p:clrMapOvr>
  <p:transition spd="med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D9A7-EA2B-0997-CDBC-AAA9497F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B0835A9-6092-66D6-C365-3C2050B670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72182"/>
            <a:ext cx="10966704" cy="325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delivered a Next-Generation Smart City Infrastructure that transforms flat, unmanaged networks into secure, scalable, IoT-enabled environments.</a:t>
            </a:r>
          </a:p>
          <a:p>
            <a:pPr algn="l"/>
            <a:r>
              <a:rPr lang="en-US" sz="1600" b="0" i="0" dirty="0">
                <a:effectLst/>
                <a:latin typeface="fkGroteskNeue"/>
              </a:rPr>
              <a:t>Key Achievements: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3-tier design (Core MLS, Distribution HG, 5 Access switches) replacing single broadcast domain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6-VLAN segmentation (Residential/Commercial/Govt/</a:t>
            </a:r>
            <a:r>
              <a:rPr lang="en-US" sz="1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/IoT/Servers) providing zone isolation &amp; security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IoT control: 14 street lights + 4 traffic signals via centralized Home Gateway dashboard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Enterprise services: DHCP/DNS/NTP/Web/IoT/Syslog for centralized management &amp; monitoring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Multi-layer security: ACL, Port Security, DHCP Snooping, SSH encryption across all zones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6C1D06-57BA-933A-8676-56749E5B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16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6E35B-65F1-B564-4EBA-58022537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B6B8F-CB7E-8D9B-4BA4-1323E8D7B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Academy, C. N. (2022). Packet Tracer User Guide. Retrieved from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https://www.computernetworkingnotes.com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(2021). Wired and Wireless Networking. Retrieved from </a:t>
            </a:r>
            <a:r>
              <a:rPr lang="en-US" sz="20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</a:t>
            </a:r>
            <a:r>
              <a:rPr lang="en-US" sz="20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(2025). Network Devices (Hub, Repeater, Bridge, Switch, Router, Gateways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Brouter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Retrieved 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https://www.geeksforgeeks.org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networklessons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(n.d.). ASA Firewall. Retrieved from </a:t>
            </a:r>
            <a:r>
              <a:rPr lang="en-US" sz="2000" u="sng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https://networklessons.com</a:t>
            </a:r>
            <a:endParaRPr lang="en-US" sz="2000" u="sng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   What Is a Subnet Mask? Definition, Working, and Benefits. (2022). Retrieved 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SpiceWorks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https://www.spiceworks.com</a:t>
            </a:r>
            <a:endParaRPr lang="en-US" sz="2000" u="sng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Yasar, K. (2023). IP address (Internet Protocol address). Retrieved from </a:t>
            </a:r>
            <a:r>
              <a:rPr lang="en-US" sz="2000" u="sng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https://www.techtarget.com</a:t>
            </a:r>
            <a:endParaRPr lang="en-US" sz="2000" u="sng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u="sng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https://www.techtarget.com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400E2-C19B-20B8-1016-8BCC0DA2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46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EDC907-BAF7-A72B-A930-F031C7F74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606AB-5A23-44CC-B609-310B8546920E}" type="slidenum">
              <a:rPr lang="en-US" smtClean="0"/>
              <a:t>34</a:t>
            </a:fld>
            <a:endParaRPr lang="en-US"/>
          </a:p>
        </p:txBody>
      </p:sp>
      <p:pic>
        <p:nvPicPr>
          <p:cNvPr id="2050" name="Picture 2" descr="50,703 Thank You Stock Photos - Free &amp; Royalty-Free Stock Photos from  Dreamstime">
            <a:extLst>
              <a:ext uri="{FF2B5EF4-FFF2-40B4-BE49-F238E27FC236}">
                <a16:creationId xmlns:a16="http://schemas.microsoft.com/office/drawing/2014/main" id="{D65B53C3-6A7C-D191-15AB-26F5E2602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" y="1290638"/>
            <a:ext cx="10323576" cy="42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7026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705</TotalTime>
  <Words>1227</Words>
  <Application>Microsoft Office PowerPoint</Application>
  <PresentationFormat>Widescreen</PresentationFormat>
  <Paragraphs>231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fkGroteskNeue</vt:lpstr>
      <vt:lpstr>Times New Roman</vt:lpstr>
      <vt:lpstr>Wingdings</vt:lpstr>
      <vt:lpstr>Office Theme</vt:lpstr>
      <vt:lpstr> Next-Generation Smart Integrated City Infrastructure With IoT Automation,Multi-VLAN Segmentation and Advanced Cybersecurity Enforcement.  Prepared for:  Practicum Defense Committee,  Department of Computer Science and Engineering</vt:lpstr>
      <vt:lpstr>Contents</vt:lpstr>
      <vt:lpstr>Organizational Overview </vt:lpstr>
      <vt:lpstr>Mission and Vision of Digi Jadoo Broadband Limited(Mohammadi Group)</vt:lpstr>
      <vt:lpstr>Office Information</vt:lpstr>
      <vt:lpstr>Introduction </vt:lpstr>
      <vt:lpstr>Computer Network</vt:lpstr>
      <vt:lpstr>Network Types</vt:lpstr>
      <vt:lpstr>Network Types(Contd.)</vt:lpstr>
      <vt:lpstr>Network Topology</vt:lpstr>
      <vt:lpstr>Network Model</vt:lpstr>
      <vt:lpstr>IP Addressing</vt:lpstr>
      <vt:lpstr>Existing Network of Digi jadoo Broadband Limited </vt:lpstr>
      <vt:lpstr>Existing Network Model</vt:lpstr>
      <vt:lpstr>Network Devices</vt:lpstr>
      <vt:lpstr>Routing Protocols</vt:lpstr>
      <vt:lpstr>Servers</vt:lpstr>
      <vt:lpstr>Limitations of Existing Network</vt:lpstr>
      <vt:lpstr>Proposed Network for Digi jadoo Broadband Limited(Mohammadi Group) </vt:lpstr>
      <vt:lpstr>Features of Proposed Network</vt:lpstr>
      <vt:lpstr>Proposed Network Model</vt:lpstr>
      <vt:lpstr>Proposed Network Model</vt:lpstr>
      <vt:lpstr>Proposed Network Model</vt:lpstr>
      <vt:lpstr>Network Devices</vt:lpstr>
      <vt:lpstr>Servers</vt:lpstr>
      <vt:lpstr>Demonstration </vt:lpstr>
      <vt:lpstr>Existing Network</vt:lpstr>
      <vt:lpstr>Proposed Network</vt:lpstr>
      <vt:lpstr>Cost Estimation</vt:lpstr>
      <vt:lpstr>Comparison between Existing and Proposed Network</vt:lpstr>
      <vt:lpstr>Conclusion</vt:lpstr>
      <vt:lpstr>Conclusion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 akter</dc:creator>
  <cp:lastModifiedBy>nabid rohan</cp:lastModifiedBy>
  <cp:revision>17</cp:revision>
  <dcterms:created xsi:type="dcterms:W3CDTF">2025-05-21T09:15:42Z</dcterms:created>
  <dcterms:modified xsi:type="dcterms:W3CDTF">2026-01-24T18:49:57Z</dcterms:modified>
</cp:coreProperties>
</file>